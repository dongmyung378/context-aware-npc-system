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 autoCompressPictures="0">
  <p:sldMasterIdLst>
    <p:sldMasterId id="2147483667" r:id="rId14"/>
  </p:sld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57" userDrawn="1">
          <p15:clr>
            <a:srgbClr val="A4A3A4"/>
          </p15:clr>
        </p15:guide>
        <p15:guide id="1" pos="28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7"/>
        <p:guide pos="287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printerSettings" Target="printerSettings/printerSettings1.bin"></Relationship><Relationship Id="rId2" Type="http://schemas.openxmlformats.org/officeDocument/2006/relationships/tableStyles" Target="tableStyles.xml"></Relationship><Relationship Id="rId14" Type="http://schemas.openxmlformats.org/officeDocument/2006/relationships/slideMaster" Target="slideMasters/slideMaster1.xml"></Relationship><Relationship Id="rId15" Type="http://schemas.openxmlformats.org/officeDocument/2006/relationships/theme" Target="theme/theme1.xml"></Relationship><Relationship Id="rId16" Type="http://schemas.openxmlformats.org/officeDocument/2006/relationships/slide" Target="slides/slide1.xml"></Relationship><Relationship Id="rId17" Type="http://schemas.openxmlformats.org/officeDocument/2006/relationships/slide" Target="slides/slide2.xml"></Relationship><Relationship Id="rId18" Type="http://schemas.openxmlformats.org/officeDocument/2006/relationships/slide" Target="slides/slide3.xml"></Relationship><Relationship Id="rId19" Type="http://schemas.openxmlformats.org/officeDocument/2006/relationships/slide" Target="slides/slide4.xml"></Relationship><Relationship Id="rId20" Type="http://schemas.openxmlformats.org/officeDocument/2006/relationships/slide" Target="slides/slide5.xml"></Relationship><Relationship Id="rId21" Type="http://schemas.openxmlformats.org/officeDocument/2006/relationships/slide" Target="slides/slide6.xml"></Relationship><Relationship Id="rId22" Type="http://schemas.openxmlformats.org/officeDocument/2006/relationships/slide" Target="slides/slide7.xml"></Relationship><Relationship Id="rId23" Type="http://schemas.openxmlformats.org/officeDocument/2006/relationships/slide" Target="slides/slide8.xml"></Relationship><Relationship Id="rId24" Type="http://schemas.openxmlformats.org/officeDocument/2006/relationships/viewProps" Target="viewProps.xml"></Relationship><Relationship Id="rId25" Type="http://schemas.openxmlformats.org/officeDocument/2006/relationships/presProps" Target="presProps.xml"></Relationship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image" Target="../media/fImage4646832041.png"></Relationship><Relationship Id="rId2" Type="http://schemas.openxmlformats.org/officeDocument/2006/relationships/slideLayout" Target="../slideLayouts/slideLayout7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image" Target="../media/fImage245140258467.png"></Relationship><Relationship Id="rId2" Type="http://schemas.openxmlformats.org/officeDocument/2006/relationships/slideLayout" Target="../slideLayouts/slideLayout7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image" Target="../media/fImage352427306334.png"></Relationship><Relationship Id="rId2" Type="http://schemas.openxmlformats.org/officeDocument/2006/relationships/slideLayout" Target="../slideLayouts/slideLayout7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image" Target="../media/fImage1758411356500.png"></Relationship><Relationship Id="rId2" Type="http://schemas.openxmlformats.org/officeDocument/2006/relationships/slideLayout" Target="../slideLayouts/slideLayout7.xm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image" Target="../media/fImage42670409169.png"></Relationship><Relationship Id="rId2" Type="http://schemas.openxmlformats.org/officeDocument/2006/relationships/slideLayout" Target="../slideLayouts/slideLayout7.xml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image" Target="../media/fImage114581455724.png"></Relationship><Relationship Id="rId2" Type="http://schemas.openxmlformats.org/officeDocument/2006/relationships/slideLayout" Target="../slideLayouts/slideLayout7.xml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image" Target="../media/fImage3913627501478.png"></Relationship><Relationship Id="rId2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645920"/>
            <a:ext cx="107289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>
                <a:solidFill>
                  <a:srgbClr val="0F1928"/>
                </a:solidFill>
                <a:latin typeface="Segoe UI Semibold"/>
              </a:defRPr>
            </a:pPr>
            <a:r>
              <a:t>Immersive NPC Interaction Design</a:t>
            </a:r>
          </a:p>
          <a:p>
            <a:pPr>
              <a:spcBef>
                <a:spcPts val="1000"/>
              </a:spcBef>
              <a:defRPr sz="2000">
                <a:solidFill>
                  <a:srgbClr val="46AAE6"/>
                </a:solidFill>
                <a:latin typeface="Segoe UI Semibold"/>
              </a:defRPr>
            </a:pPr>
            <a:r>
              <a:t>A Data-Driven Architecture for Context-Aware Game Ecosystems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1991995" cy="662940"/>
          </a:xfrm>
          <a:prstGeom prst="rect">
            <a:avLst/>
          </a:prstGeom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3rd Year Project </a:t>
            </a:r>
            <a:endParaRPr lang="ko-KR" altLang="en-US"/>
          </a:p>
          <a:p>
            <a:pPr marL="0" indent="0">
              <a:spcBef>
                <a:spcPts val="500"/>
              </a:spcBef>
              <a:buFontTx/>
              <a:buNone/>
              <a:defRPr sz="1800">
                <a:solidFill>
                  <a:srgbClr val="0F1928"/>
                </a:solidFill>
                <a:latin typeface="Segoe UI Semibold" charset="0"/>
              </a:defRPr>
            </a:pPr>
            <a:r>
              <a:rPr/>
              <a:t>Dongmyung Park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841375"/>
            <a:ext cx="365760" cy="365760"/>
          </a:xfrm>
          <a:prstGeom prst="roundRect">
            <a:avLst/>
          </a:prstGeom>
          <a:solidFill>
            <a:srgbClr val="FFB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0F1928"/>
                </a:solidFill>
                <a:latin typeface="Segoe UI Semibold"/>
              </a:defRPr>
            </a:pPr>
            <a:r>
              <a:t>The Fictional Contract &amp; 3 Failure Modes</a:t>
            </a:r>
          </a:p>
          <a:p>
            <a:pPr>
              <a:spcBef>
                <a:spcPts val="500"/>
              </a:spcBef>
              <a:defRPr sz="1600">
                <a:solidFill>
                  <a:srgbClr val="46AAE6"/>
                </a:solidFill>
                <a:latin typeface="Segoe UI Semibold"/>
              </a:defRPr>
            </a:pPr>
            <a:r>
              <a:t>Identifying the limitations of contemporary NPC design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 rot="0">
            <a:off x="1097280" y="2011680"/>
            <a:ext cx="5389245" cy="398843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endParaRPr lang="ko-KR" altLang="en-US" sz="1800">
              <a:solidFill>
                <a:schemeClr val="tx1"/>
              </a:solidFill>
              <a:latin typeface="Calibri" charset="0"/>
              <a:ea typeface="+mn-ea"/>
              <a:cs typeface="+mn-cs"/>
            </a:endParaRPr>
          </a:p>
          <a:p>
            <a:pPr marL="0" indent="0">
              <a:spcAft>
                <a:spcPts val="600"/>
              </a:spcAft>
              <a:buFontTx/>
              <a:buNone/>
              <a:defRPr sz="2000" b="1">
                <a:solidFill>
                  <a:srgbClr val="46AAE6"/>
                </a:solidFill>
                <a:latin typeface="Segoe UI" charset="0"/>
              </a:defRPr>
            </a:pPr>
            <a:r>
              <a:rPr/>
              <a:t>Context-Blind Dialogue</a:t>
            </a:r>
            <a:endParaRPr lang="ko-KR" altLang="en-US"/>
          </a:p>
          <a:p>
            <a:pPr marL="0" indent="0">
              <a:lnSpc>
                <a:spcPct val="130000"/>
              </a:lnSpc>
              <a:spcAft>
                <a:spcPts val="800"/>
              </a:spcAft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■  NPCs ignore the player's physiological (Stamina) and economic (Money) states.</a:t>
            </a:r>
            <a:endParaRPr lang="ko-KR" altLang="en-US"/>
          </a:p>
          <a:p>
            <a:pPr marL="0" indent="0">
              <a:spcAft>
                <a:spcPts val="1600"/>
              </a:spcAft>
              <a:buFontTx/>
              <a:buNone/>
              <a:defRPr sz="200"/>
            </a:pPr>
            <a:endParaRPr lang="ko-KR" altLang="en-US" sz="200"/>
          </a:p>
          <a:p>
            <a:pPr marL="0" indent="0">
              <a:spcAft>
                <a:spcPts val="600"/>
              </a:spcAft>
              <a:buFontTx/>
              <a:buNone/>
              <a:defRPr sz="2000" b="1">
                <a:solidFill>
                  <a:srgbClr val="46AAE6"/>
                </a:solidFill>
                <a:latin typeface="Segoe UI" charset="0"/>
              </a:defRPr>
            </a:pPr>
            <a:r>
              <a:rPr/>
              <a:t>Static Environmental Presence</a:t>
            </a:r>
            <a:endParaRPr lang="ko-KR" altLang="en-US"/>
          </a:p>
          <a:p>
            <a:pPr marL="0" indent="0">
              <a:lnSpc>
                <a:spcPct val="130000"/>
              </a:lnSpc>
              <a:spcAft>
                <a:spcPts val="800"/>
              </a:spcAft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■  Characters remain fixed, lacking time-synchronised daily routines.</a:t>
            </a:r>
            <a:endParaRPr lang="ko-KR" altLang="en-US"/>
          </a:p>
          <a:p>
            <a:pPr marL="0" indent="0">
              <a:spcAft>
                <a:spcPts val="1600"/>
              </a:spcAft>
              <a:buFontTx/>
              <a:buNone/>
              <a:defRPr sz="200"/>
            </a:pPr>
            <a:endParaRPr lang="ko-KR" altLang="en-US" sz="200"/>
          </a:p>
          <a:p>
            <a:pPr marL="0" indent="0">
              <a:spcAft>
                <a:spcPts val="600"/>
              </a:spcAft>
              <a:buFontTx/>
              <a:buNone/>
              <a:defRPr sz="2000" b="1">
                <a:solidFill>
                  <a:srgbClr val="46AAE6"/>
                </a:solidFill>
                <a:latin typeface="Segoe UI" charset="0"/>
              </a:defRPr>
            </a:pPr>
            <a:r>
              <a:rPr/>
              <a:t>Lack of Evolving Relationships</a:t>
            </a:r>
            <a:endParaRPr lang="ko-KR" altLang="en-US"/>
          </a:p>
          <a:p>
            <a:pPr marL="0" indent="0">
              <a:lnSpc>
                <a:spcPct val="130000"/>
              </a:lnSpc>
              <a:spcAft>
                <a:spcPts val="800"/>
              </a:spcAft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■  Social interaction and economy are decoupled, preventing narrative progression.</a:t>
            </a:r>
            <a:endParaRPr lang="ko-KR" altLang="en-US"/>
          </a:p>
        </p:txBody>
      </p:sp>
      <p:sp>
        <p:nvSpPr>
          <p:cNvPr id="5" name="Rounded Rectangle 4"/>
          <p:cNvSpPr>
            <a:spLocks/>
          </p:cNvSpPr>
          <p:nvPr/>
        </p:nvSpPr>
        <p:spPr>
          <a:xfrm rot="0">
            <a:off x="6583680" y="2011680"/>
            <a:ext cx="4572635" cy="3841115"/>
          </a:xfrm>
          <a:prstGeom prst="roundRect"/>
          <a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  <a:ln w="25400" cap="flat" cmpd="sng">
            <a:solidFill>
              <a:srgbClr val="FFBE3C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  <a:defRPr sz="1400">
                <a:solidFill>
                  <a:srgbClr val="465564"/>
                </a:solidFill>
                <a:latin typeface="Segoe UI Semibold" charset="0"/>
              </a:defRPr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841375"/>
            <a:ext cx="365760" cy="365760"/>
          </a:xfrm>
          <a:prstGeom prst="roundRect">
            <a:avLst/>
          </a:prstGeom>
          <a:solidFill>
            <a:srgbClr val="FFB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0F1928"/>
                </a:solidFill>
                <a:latin typeface="Segoe UI Semibold"/>
              </a:defRPr>
            </a:pPr>
            <a:r>
              <a:t>Data-Driven System Architecture</a:t>
            </a:r>
          </a:p>
          <a:p>
            <a:pPr>
              <a:spcBef>
                <a:spcPts val="500"/>
              </a:spcBef>
              <a:defRPr sz="1600">
                <a:solidFill>
                  <a:srgbClr val="46AAE6"/>
                </a:solidFill>
                <a:latin typeface="Segoe UI Semibold"/>
              </a:defRPr>
            </a:pPr>
            <a:r>
              <a:t>Behaviour Trees (BT) &amp; Lifecycle Synchronisation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 rot="0">
            <a:off x="1097280" y="2011680"/>
            <a:ext cx="5401945" cy="40722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endParaRPr lang="ko-KR" altLang="en-US" sz="1800">
              <a:solidFill>
                <a:schemeClr val="tx1"/>
              </a:solidFill>
              <a:latin typeface="Calibri" charset="0"/>
              <a:ea typeface="+mn-ea"/>
              <a:cs typeface="+mn-cs"/>
            </a:endParaRPr>
          </a:p>
          <a:p>
            <a:pPr marL="0" indent="0">
              <a:spcAft>
                <a:spcPts val="600"/>
              </a:spcAft>
              <a:buFontTx/>
              <a:buNone/>
              <a:defRPr sz="2000" b="1">
                <a:solidFill>
                  <a:srgbClr val="46AAE6"/>
                </a:solidFill>
                <a:latin typeface="Segoe UI" charset="0"/>
              </a:defRPr>
            </a:pPr>
            <a:r>
              <a:rPr/>
              <a:t>Behaviour Tree (BT) Architecture</a:t>
            </a:r>
            <a:endParaRPr lang="ko-KR" altLang="en-US"/>
          </a:p>
          <a:p>
            <a:pPr marL="0" indent="0">
              <a:lnSpc>
                <a:spcPct val="130000"/>
              </a:lnSpc>
              <a:spcAft>
                <a:spcPts val="800"/>
              </a:spcAft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■  Replaces rigid FSMs to manage complex, multi-layered daily routines.</a:t>
            </a:r>
            <a:endParaRPr lang="ko-KR" altLang="en-US"/>
          </a:p>
          <a:p>
            <a:pPr marL="0" indent="0">
              <a:lnSpc>
                <a:spcPct val="130000"/>
              </a:lnSpc>
              <a:spcAft>
                <a:spcPts val="800"/>
              </a:spcAft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■  Integrates stochastic animations to prevent mechanical looping.</a:t>
            </a:r>
            <a:endParaRPr lang="ko-KR" altLang="en-US"/>
          </a:p>
          <a:p>
            <a:pPr marL="0" indent="0">
              <a:spcAft>
                <a:spcPts val="1600"/>
              </a:spcAft>
              <a:buFontTx/>
              <a:buNone/>
              <a:defRPr sz="200"/>
            </a:pPr>
            <a:endParaRPr lang="ko-KR" altLang="en-US" sz="200"/>
          </a:p>
          <a:p>
            <a:pPr marL="0" indent="0">
              <a:spcAft>
                <a:spcPts val="600"/>
              </a:spcAft>
              <a:buFontTx/>
              <a:buNone/>
              <a:defRPr sz="2000" b="1">
                <a:solidFill>
                  <a:srgbClr val="46AAE6"/>
                </a:solidFill>
                <a:latin typeface="Segoe UI" charset="0"/>
              </a:defRPr>
            </a:pPr>
            <a:r>
              <a:rPr/>
              <a:t>Time-Synchronised NPC Lifecycle</a:t>
            </a:r>
            <a:endParaRPr lang="ko-KR" altLang="en-US"/>
          </a:p>
          <a:p>
            <a:pPr marL="0" indent="0">
              <a:lnSpc>
                <a:spcPct val="130000"/>
              </a:lnSpc>
              <a:spcAft>
                <a:spcPts val="800"/>
              </a:spcAft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■  Global clock tied to Data Table constraints for commute scheduling.</a:t>
            </a:r>
            <a:endParaRPr lang="ko-KR" altLang="en-US"/>
          </a:p>
          <a:p>
            <a:pPr marL="0" indent="0">
              <a:lnSpc>
                <a:spcPct val="130000"/>
              </a:lnSpc>
              <a:spcAft>
                <a:spcPts val="800"/>
              </a:spcAft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■  Memory-efficient Object Pooling (Visibility/Collision toggle) avoids Garbage Collection spikes.</a:t>
            </a:r>
            <a:endParaRPr lang="ko-KR" altLang="en-US"/>
          </a:p>
        </p:txBody>
      </p:sp>
      <p:sp>
        <p:nvSpPr>
          <p:cNvPr id="5" name="Rounded Rectangle 4"/>
          <p:cNvSpPr>
            <a:spLocks/>
          </p:cNvSpPr>
          <p:nvPr/>
        </p:nvSpPr>
        <p:spPr>
          <a:xfrm rot="0">
            <a:off x="6574790" y="2011680"/>
            <a:ext cx="4572635" cy="3841115"/>
          </a:xfrm>
          <a:prstGeom prst="roundRect"/>
          <a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  <a:ln w="25400" cap="flat" cmpd="sng">
            <a:solidFill>
              <a:srgbClr val="FFBE3C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  <a:defRPr sz="1400">
                <a:solidFill>
                  <a:srgbClr val="465564"/>
                </a:solidFill>
                <a:latin typeface="Segoe UI Semibold" charset="0"/>
              </a:defRPr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841375"/>
            <a:ext cx="365760" cy="365760"/>
          </a:xfrm>
          <a:prstGeom prst="roundRect">
            <a:avLst/>
          </a:prstGeom>
          <a:solidFill>
            <a:srgbClr val="FFB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0F1928"/>
                </a:solidFill>
                <a:latin typeface="Segoe UI Semibold"/>
              </a:defRPr>
            </a:pPr>
            <a:r>
              <a:t>Context-Aware Interaction System</a:t>
            </a:r>
          </a:p>
          <a:p>
            <a:pPr>
              <a:spcBef>
                <a:spcPts val="500"/>
              </a:spcBef>
              <a:defRPr sz="1600">
                <a:solidFill>
                  <a:srgbClr val="46AAE6"/>
                </a:solidFill>
                <a:latin typeface="Segoe UI Semibold"/>
              </a:defRPr>
            </a:pPr>
            <a:r>
              <a:t>Spatial Disambiguation &amp; Dialogue Priority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 rot="0">
            <a:off x="1097280" y="2011680"/>
            <a:ext cx="5401945" cy="377253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endParaRPr lang="ko-KR" altLang="en-US" sz="1800">
              <a:solidFill>
                <a:schemeClr val="tx1"/>
              </a:solidFill>
              <a:latin typeface="Calibri" charset="0"/>
              <a:ea typeface="+mn-ea"/>
              <a:cs typeface="+mn-cs"/>
            </a:endParaRPr>
          </a:p>
          <a:p>
            <a:pPr marL="0" indent="0">
              <a:spcAft>
                <a:spcPts val="600"/>
              </a:spcAft>
              <a:buFontTx/>
              <a:buNone/>
              <a:defRPr sz="2000" b="1">
                <a:solidFill>
                  <a:srgbClr val="46AAE6"/>
                </a:solidFill>
                <a:latin typeface="Segoe UI" charset="0"/>
              </a:defRPr>
            </a:pPr>
            <a:r>
              <a:rPr/>
              <a:t>Vector Dot Product Targeting</a:t>
            </a:r>
            <a:endParaRPr lang="ko-KR" altLang="en-US"/>
          </a:p>
          <a:p>
            <a:pPr marL="0" indent="0">
              <a:lnSpc>
                <a:spcPct val="130000"/>
              </a:lnSpc>
              <a:spcAft>
                <a:spcPts val="800"/>
              </a:spcAft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■  Solves 'interaction hijacking' in densely crowded boundaries.</a:t>
            </a:r>
            <a:endParaRPr lang="ko-KR" altLang="en-US"/>
          </a:p>
          <a:p>
            <a:pPr marL="0" indent="0">
              <a:lnSpc>
                <a:spcPct val="130000"/>
              </a:lnSpc>
              <a:spcAft>
                <a:spcPts val="800"/>
              </a:spcAft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■  Isolates the target utilizing dot product math against the camera's forward vector.</a:t>
            </a:r>
            <a:endParaRPr lang="ko-KR" altLang="en-US"/>
          </a:p>
          <a:p>
            <a:pPr marL="0" indent="0">
              <a:spcAft>
                <a:spcPts val="1600"/>
              </a:spcAft>
              <a:buFontTx/>
              <a:buNone/>
              <a:defRPr sz="200"/>
            </a:pPr>
            <a:endParaRPr lang="ko-KR" altLang="en-US" sz="200"/>
          </a:p>
          <a:p>
            <a:pPr marL="0" indent="0">
              <a:spcAft>
                <a:spcPts val="600"/>
              </a:spcAft>
              <a:buFontTx/>
              <a:buNone/>
              <a:defRPr sz="2000" b="1">
                <a:solidFill>
                  <a:srgbClr val="46AAE6"/>
                </a:solidFill>
                <a:latin typeface="Segoe UI" charset="0"/>
              </a:defRPr>
            </a:pPr>
            <a:r>
              <a:rPr/>
              <a:t>State-Driven Priority Engine</a:t>
            </a:r>
            <a:endParaRPr lang="ko-KR" altLang="en-US"/>
          </a:p>
          <a:p>
            <a:pPr marL="0" indent="0">
              <a:lnSpc>
                <a:spcPct val="130000"/>
              </a:lnSpc>
              <a:spcAft>
                <a:spcPts val="800"/>
              </a:spcAft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■  Intercepts default dialogue to evaluate core survival metrics.</a:t>
            </a:r>
            <a:endParaRPr lang="ko-KR" altLang="en-US"/>
          </a:p>
          <a:p>
            <a:pPr marL="0" indent="0">
              <a:lnSpc>
                <a:spcPct val="130000"/>
              </a:lnSpc>
              <a:spcAft>
                <a:spcPts val="800"/>
              </a:spcAft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■  Forces dynamic overrides if Stamina &lt;= 30 or Money == 0.</a:t>
            </a:r>
            <a:endParaRPr lang="ko-KR" altLang="en-US"/>
          </a:p>
        </p:txBody>
      </p:sp>
      <p:sp>
        <p:nvSpPr>
          <p:cNvPr id="5" name="Rounded Rectangle 4"/>
          <p:cNvSpPr>
            <a:spLocks/>
          </p:cNvSpPr>
          <p:nvPr/>
        </p:nvSpPr>
        <p:spPr>
          <a:xfrm rot="0">
            <a:off x="6583680" y="2011680"/>
            <a:ext cx="4572635" cy="3841115"/>
          </a:xfrm>
          <a:prstGeom prst="roundRect"/>
          <a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  <a:ln w="25400" cap="flat" cmpd="sng">
            <a:solidFill>
              <a:srgbClr val="FFBE3C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  <a:defRPr sz="1400">
                <a:solidFill>
                  <a:srgbClr val="465564"/>
                </a:solidFill>
                <a:latin typeface="Segoe UI Semibold" charset="0"/>
              </a:defRPr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841375"/>
            <a:ext cx="365760" cy="365760"/>
          </a:xfrm>
          <a:prstGeom prst="roundRect">
            <a:avLst/>
          </a:prstGeom>
          <a:solidFill>
            <a:srgbClr val="FFB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0F1928"/>
                </a:solidFill>
                <a:latin typeface="Segoe UI Semibold"/>
              </a:defRPr>
            </a:pPr>
            <a:r>
              <a:t>Economy, Trading &amp; Trust Mechanics</a:t>
            </a:r>
          </a:p>
          <a:p>
            <a:pPr>
              <a:spcBef>
                <a:spcPts val="500"/>
              </a:spcBef>
              <a:defRPr sz="1600">
                <a:solidFill>
                  <a:srgbClr val="46AAE6"/>
                </a:solidFill>
                <a:latin typeface="Segoe UI Semibold"/>
              </a:defRPr>
            </a:pPr>
            <a:r>
              <a:t>Coupling Social Progression with Gameplay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 rot="0">
            <a:off x="1097280" y="2011680"/>
            <a:ext cx="5376545" cy="43897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endParaRPr lang="ko-KR" altLang="en-US" sz="1800">
              <a:solidFill>
                <a:schemeClr val="tx1"/>
              </a:solidFill>
              <a:latin typeface="Calibri" charset="0"/>
              <a:ea typeface="+mn-ea"/>
              <a:cs typeface="+mn-cs"/>
            </a:endParaRPr>
          </a:p>
          <a:p>
            <a:pPr marL="0" indent="0">
              <a:spcAft>
                <a:spcPts val="600"/>
              </a:spcAft>
              <a:buFontTx/>
              <a:buNone/>
              <a:defRPr sz="2000" b="1">
                <a:solidFill>
                  <a:srgbClr val="46AAE6"/>
                </a:solidFill>
                <a:latin typeface="Segoe UI" charset="0"/>
              </a:defRPr>
            </a:pPr>
            <a:r>
              <a:rPr/>
              <a:t>Procedural Foraging &amp; RNG</a:t>
            </a:r>
            <a:endParaRPr lang="ko-KR" altLang="en-US"/>
          </a:p>
          <a:p>
            <a:pPr marL="0" indent="0">
              <a:lnSpc>
                <a:spcPct val="130000"/>
              </a:lnSpc>
              <a:spcAft>
                <a:spcPts val="800"/>
              </a:spcAft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■  10% stochastic probability to generate 'Rare' items.</a:t>
            </a:r>
            <a:endParaRPr lang="ko-KR" altLang="en-US"/>
          </a:p>
          <a:p>
            <a:pPr marL="0" indent="0">
              <a:lnSpc>
                <a:spcPct val="130000"/>
              </a:lnSpc>
              <a:spcAft>
                <a:spcPts val="800"/>
              </a:spcAft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■  Selling rare items yields dual-rewards: Currency and NPC Trust Level.</a:t>
            </a:r>
            <a:endParaRPr lang="ko-KR" altLang="en-US"/>
          </a:p>
          <a:p>
            <a:pPr marL="0" indent="0">
              <a:spcAft>
                <a:spcPts val="1600"/>
              </a:spcAft>
              <a:buFontTx/>
              <a:buNone/>
              <a:defRPr sz="200"/>
            </a:pPr>
            <a:endParaRPr lang="ko-KR" altLang="en-US" sz="200"/>
          </a:p>
          <a:p>
            <a:pPr marL="0" indent="0">
              <a:spcAft>
                <a:spcPts val="600"/>
              </a:spcAft>
              <a:buFontTx/>
              <a:buNone/>
              <a:defRPr sz="2000" b="1">
                <a:solidFill>
                  <a:srgbClr val="46AAE6"/>
                </a:solidFill>
                <a:latin typeface="Segoe UI" charset="0"/>
              </a:defRPr>
            </a:pPr>
            <a:r>
              <a:rPr/>
              <a:t>Trust-Gated Commerce</a:t>
            </a:r>
            <a:endParaRPr lang="ko-KR" altLang="en-US"/>
          </a:p>
          <a:p>
            <a:pPr marL="0" indent="0">
              <a:lnSpc>
                <a:spcPct val="130000"/>
              </a:lnSpc>
              <a:spcAft>
                <a:spcPts val="800"/>
              </a:spcAft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■  Special items applying permanent mechanical buffs are locked behind Trust &gt;= 100.</a:t>
            </a:r>
            <a:endParaRPr lang="ko-KR" altLang="en-US"/>
          </a:p>
          <a:p>
            <a:pPr marL="0" indent="0">
              <a:spcAft>
                <a:spcPts val="1600"/>
              </a:spcAft>
              <a:buFontTx/>
              <a:buNone/>
              <a:defRPr sz="200"/>
            </a:pPr>
            <a:endParaRPr lang="ko-KR" altLang="en-US" sz="200"/>
          </a:p>
          <a:p>
            <a:pPr marL="0" indent="0">
              <a:spcAft>
                <a:spcPts val="600"/>
              </a:spcAft>
              <a:buFontTx/>
              <a:buNone/>
              <a:defRPr sz="2000" b="1">
                <a:solidFill>
                  <a:srgbClr val="46AAE6"/>
                </a:solidFill>
                <a:latin typeface="Segoe UI" charset="0"/>
              </a:defRPr>
            </a:pPr>
            <a:r>
              <a:rPr/>
              <a:t>Companion System Override</a:t>
            </a:r>
            <a:endParaRPr lang="ko-KR" altLang="en-US"/>
          </a:p>
          <a:p>
            <a:pPr marL="0" indent="0">
              <a:lnSpc>
                <a:spcPct val="130000"/>
              </a:lnSpc>
              <a:spcAft>
                <a:spcPts val="800"/>
              </a:spcAft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■  Reaching the trust threshold toggles the BT 'IsFollowing' key, granting companionship.</a:t>
            </a:r>
            <a:endParaRPr lang="ko-KR" altLang="en-US"/>
          </a:p>
        </p:txBody>
      </p:sp>
      <p:sp>
        <p:nvSpPr>
          <p:cNvPr id="5" name="Rounded Rectangle 4"/>
          <p:cNvSpPr>
            <a:spLocks/>
          </p:cNvSpPr>
          <p:nvPr/>
        </p:nvSpPr>
        <p:spPr>
          <a:xfrm rot="0">
            <a:off x="6583680" y="2011680"/>
            <a:ext cx="4572635" cy="3841115"/>
          </a:xfrm>
          <a:prstGeom prst="roundRect"/>
          <a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  <a:ln w="25400" cap="flat" cmpd="sng">
            <a:solidFill>
              <a:srgbClr val="FFBE3C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  <a:defRPr sz="1400">
                <a:solidFill>
                  <a:srgbClr val="465564"/>
                </a:solidFill>
                <a:latin typeface="Segoe UI Semibold" charset="0"/>
              </a:defRPr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841375"/>
            <a:ext cx="365760" cy="365760"/>
          </a:xfrm>
          <a:prstGeom prst="roundRect">
            <a:avLst/>
          </a:prstGeom>
          <a:solidFill>
            <a:srgbClr val="FFB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0F1928"/>
                </a:solidFill>
                <a:latin typeface="Segoe UI Semibold"/>
              </a:defRPr>
            </a:pPr>
            <a:r>
              <a:t>Tripartite Evaluation Methodology</a:t>
            </a:r>
          </a:p>
          <a:p>
            <a:pPr>
              <a:spcBef>
                <a:spcPts val="500"/>
              </a:spcBef>
              <a:defRPr sz="1600">
                <a:solidFill>
                  <a:srgbClr val="46AAE6"/>
                </a:solidFill>
                <a:latin typeface="Segoe UI Semibold"/>
              </a:defRPr>
            </a:pPr>
            <a:r>
              <a:t>Functional, Integration &amp; Probabilistic Testing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 rot="0">
            <a:off x="1097280" y="2011680"/>
            <a:ext cx="5137785" cy="41738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endParaRPr lang="ko-KR" altLang="en-US" sz="1800">
              <a:solidFill>
                <a:schemeClr val="tx1"/>
              </a:solidFill>
              <a:latin typeface="Calibri" charset="0"/>
              <a:ea typeface="+mn-ea"/>
              <a:cs typeface="+mn-cs"/>
            </a:endParaRPr>
          </a:p>
          <a:p>
            <a:pPr marL="0" indent="0">
              <a:spcAft>
                <a:spcPts val="600"/>
              </a:spcAft>
              <a:buFontTx/>
              <a:buNone/>
              <a:defRPr sz="2000" b="1">
                <a:solidFill>
                  <a:srgbClr val="46AAE6"/>
                </a:solidFill>
                <a:latin typeface="Segoe UI" charset="0"/>
              </a:defRPr>
            </a:pPr>
            <a:r>
              <a:rPr/>
              <a:t>Integration Resilience</a:t>
            </a:r>
            <a:endParaRPr lang="ko-KR" altLang="en-US"/>
          </a:p>
          <a:p>
            <a:pPr marL="0" indent="0">
              <a:lnSpc>
                <a:spcPct val="130000"/>
              </a:lnSpc>
              <a:spcAft>
                <a:spcPts val="800"/>
              </a:spcAft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■  Achieved 100% targeting accuracy in spatial stress tests (5 overlapping NPCs).</a:t>
            </a:r>
            <a:endParaRPr lang="ko-KR" altLang="en-US"/>
          </a:p>
          <a:p>
            <a:pPr marL="0" indent="0">
              <a:lnSpc>
                <a:spcPct val="130000"/>
              </a:lnSpc>
              <a:spcAft>
                <a:spcPts val="800"/>
              </a:spcAft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■  Concurrent edge-cases (zero stamina &amp; zero money) successfully evaluated.</a:t>
            </a:r>
            <a:endParaRPr lang="ko-KR" altLang="en-US"/>
          </a:p>
          <a:p>
            <a:pPr marL="0" indent="0">
              <a:spcAft>
                <a:spcPts val="1600"/>
              </a:spcAft>
              <a:buFontTx/>
              <a:buNone/>
              <a:defRPr sz="200"/>
            </a:pPr>
            <a:endParaRPr lang="ko-KR" altLang="en-US" sz="200"/>
          </a:p>
          <a:p>
            <a:pPr marL="0" indent="0">
              <a:spcAft>
                <a:spcPts val="600"/>
              </a:spcAft>
              <a:buFontTx/>
              <a:buNone/>
              <a:defRPr sz="2000" b="1">
                <a:solidFill>
                  <a:srgbClr val="46AAE6"/>
                </a:solidFill>
                <a:latin typeface="Segoe UI" charset="0"/>
              </a:defRPr>
            </a:pPr>
            <a:r>
              <a:rPr/>
              <a:t>Probabilistic Trial Measurement (N=100)</a:t>
            </a:r>
            <a:endParaRPr lang="ko-KR" altLang="en-US"/>
          </a:p>
          <a:p>
            <a:pPr marL="0" indent="0">
              <a:lnSpc>
                <a:spcPct val="130000"/>
              </a:lnSpc>
              <a:spcAft>
                <a:spcPts val="800"/>
              </a:spcAft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■  Subjected stochastic systems to 100 independent trials.</a:t>
            </a:r>
            <a:endParaRPr lang="ko-KR" altLang="en-US"/>
          </a:p>
          <a:p>
            <a:pPr marL="0" indent="0">
              <a:lnSpc>
                <a:spcPct val="130000"/>
              </a:lnSpc>
              <a:spcAft>
                <a:spcPts val="800"/>
              </a:spcAft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■  Rare items observed at 14% (Expected: 10%).</a:t>
            </a:r>
            <a:endParaRPr lang="ko-KR" altLang="en-US"/>
          </a:p>
          <a:p>
            <a:pPr marL="0" indent="0">
              <a:lnSpc>
                <a:spcPct val="130000"/>
              </a:lnSpc>
              <a:spcAft>
                <a:spcPts val="800"/>
              </a:spcAft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■  Statistically verified within expected binomial bounds (σ = 3.0).</a:t>
            </a:r>
            <a:endParaRPr lang="ko-KR" altLang="en-US"/>
          </a:p>
        </p:txBody>
      </p:sp>
      <p:sp>
        <p:nvSpPr>
          <p:cNvPr id="5" name="Rounded Rectangle 4"/>
          <p:cNvSpPr>
            <a:spLocks/>
          </p:cNvSpPr>
          <p:nvPr/>
        </p:nvSpPr>
        <p:spPr>
          <a:xfrm rot="0">
            <a:off x="6583680" y="2011680"/>
            <a:ext cx="4572635" cy="3841115"/>
          </a:xfrm>
          <a:prstGeom prst="roundRect"/>
          <a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  <a:ln w="25400" cap="flat" cmpd="sng">
            <a:solidFill>
              <a:srgbClr val="FFBE3C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  <a:defRPr sz="1400">
                <a:solidFill>
                  <a:srgbClr val="465564"/>
                </a:solidFill>
                <a:latin typeface="Segoe UI Semibold" charset="0"/>
              </a:defRPr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841375"/>
            <a:ext cx="365760" cy="365760"/>
          </a:xfrm>
          <a:prstGeom prst="roundRect">
            <a:avLst/>
          </a:prstGeom>
          <a:solidFill>
            <a:srgbClr val="FFB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0F1928"/>
                </a:solidFill>
                <a:latin typeface="Segoe UI Semibold"/>
              </a:defRPr>
            </a:pPr>
            <a:r>
              <a:t>The LLM Frontier &amp; Limitations</a:t>
            </a:r>
          </a:p>
          <a:p>
            <a:pPr>
              <a:spcBef>
                <a:spcPts val="500"/>
              </a:spcBef>
              <a:defRPr sz="1600">
                <a:solidFill>
                  <a:srgbClr val="46AAE6"/>
                </a:solidFill>
                <a:latin typeface="Segoe UI Semibold"/>
              </a:defRPr>
            </a:pPr>
            <a:r>
              <a:t>Evaluating Generative Agents in Game Engines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 rot="0">
            <a:off x="1097280" y="2011680"/>
            <a:ext cx="5628005" cy="479107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endParaRPr lang="ko-KR" altLang="en-US" sz="1800">
              <a:solidFill>
                <a:schemeClr val="tx1"/>
              </a:solidFill>
              <a:latin typeface="Calibri" charset="0"/>
              <a:ea typeface="+mn-ea"/>
              <a:cs typeface="+mn-cs"/>
            </a:endParaRPr>
          </a:p>
          <a:p>
            <a:pPr marL="0" indent="0">
              <a:spcAft>
                <a:spcPts val="600"/>
              </a:spcAft>
              <a:buFontTx/>
              <a:buNone/>
              <a:defRPr sz="2000" b="1">
                <a:solidFill>
                  <a:srgbClr val="46AAE6"/>
                </a:solidFill>
                <a:latin typeface="Segoe UI" charset="0"/>
              </a:defRPr>
            </a:pPr>
            <a:r>
              <a:rPr/>
              <a:t>The Zero-Shot Experiment (Qwen 1.5B)</a:t>
            </a:r>
            <a:endParaRPr lang="ko-KR" altLang="en-US"/>
          </a:p>
          <a:p>
            <a:pPr marL="0" indent="0">
              <a:lnSpc>
                <a:spcPct val="130000"/>
              </a:lnSpc>
              <a:spcAft>
                <a:spcPts val="800"/>
              </a:spcAft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■  Attempted to replace authored dialogue with dynamic inference.</a:t>
            </a:r>
            <a:endParaRPr lang="ko-KR" altLang="en-US"/>
          </a:p>
          <a:p>
            <a:pPr marL="0" indent="0">
              <a:spcAft>
                <a:spcPts val="1600"/>
              </a:spcAft>
              <a:buFontTx/>
              <a:buNone/>
              <a:defRPr sz="200"/>
            </a:pPr>
            <a:endParaRPr lang="ko-KR" altLang="en-US" sz="200"/>
          </a:p>
          <a:p>
            <a:pPr marL="0" indent="0">
              <a:spcAft>
                <a:spcPts val="600"/>
              </a:spcAft>
              <a:buFontTx/>
              <a:buNone/>
              <a:defRPr sz="2000" b="1">
                <a:solidFill>
                  <a:srgbClr val="46AAE6"/>
                </a:solidFill>
                <a:latin typeface="Segoe UI" charset="0"/>
              </a:defRPr>
            </a:pPr>
            <a:r>
              <a:rPr/>
              <a:t>Context Alignment Failure</a:t>
            </a:r>
            <a:endParaRPr lang="ko-KR" altLang="en-US"/>
          </a:p>
          <a:p>
            <a:pPr marL="0" indent="0">
              <a:lnSpc>
                <a:spcPct val="130000"/>
              </a:lnSpc>
              <a:spcAft>
                <a:spcPts val="800"/>
              </a:spcAft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■  Small-parameter models hallucinated and ignored parametric constraints (Stamina=25).</a:t>
            </a:r>
            <a:endParaRPr lang="ko-KR" altLang="en-US"/>
          </a:p>
          <a:p>
            <a:pPr marL="0" indent="0">
              <a:lnSpc>
                <a:spcPct val="130000"/>
              </a:lnSpc>
              <a:spcAft>
                <a:spcPts val="800"/>
              </a:spcAft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■  Failed to output contextually appropriate tone.</a:t>
            </a:r>
            <a:endParaRPr lang="ko-KR" altLang="en-US"/>
          </a:p>
          <a:p>
            <a:pPr marL="0" indent="0">
              <a:spcAft>
                <a:spcPts val="1600"/>
              </a:spcAft>
              <a:buFontTx/>
              <a:buNone/>
              <a:defRPr sz="200"/>
            </a:pPr>
            <a:endParaRPr lang="ko-KR" altLang="en-US" sz="200"/>
          </a:p>
          <a:p>
            <a:pPr marL="0" indent="0">
              <a:spcAft>
                <a:spcPts val="600"/>
              </a:spcAft>
              <a:buFontTx/>
              <a:buNone/>
              <a:defRPr sz="2000" b="1">
                <a:solidFill>
                  <a:srgbClr val="46AAE6"/>
                </a:solidFill>
                <a:latin typeface="Segoe UI" charset="0"/>
              </a:defRPr>
            </a:pPr>
            <a:r>
              <a:rPr/>
              <a:t>The Path Forward</a:t>
            </a:r>
            <a:endParaRPr lang="ko-KR" altLang="en-US"/>
          </a:p>
          <a:p>
            <a:pPr marL="0" indent="0">
              <a:lnSpc>
                <a:spcPct val="130000"/>
              </a:lnSpc>
              <a:spcAft>
                <a:spcPts val="800"/>
              </a:spcAft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■  Proves raw LLM prompting is insufficient for game rules.</a:t>
            </a:r>
            <a:endParaRPr lang="ko-KR" altLang="en-US"/>
          </a:p>
          <a:p>
            <a:pPr marL="0" indent="0">
              <a:lnSpc>
                <a:spcPct val="130000"/>
              </a:lnSpc>
              <a:spcAft>
                <a:spcPts val="800"/>
              </a:spcAft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■  Future work requires domain-specific fine-tuning (RAG/LoRA) bounded by the established BT variables.</a:t>
            </a:r>
            <a:endParaRPr lang="ko-KR" altLang="en-US"/>
          </a:p>
        </p:txBody>
      </p:sp>
      <p:sp>
        <p:nvSpPr>
          <p:cNvPr id="5" name="Rounded Rectangle 4"/>
          <p:cNvSpPr>
            <a:spLocks/>
          </p:cNvSpPr>
          <p:nvPr/>
        </p:nvSpPr>
        <p:spPr>
          <a:xfrm rot="0">
            <a:off x="6583680" y="2011680"/>
            <a:ext cx="4572635" cy="3841115"/>
          </a:xfrm>
          <a:prstGeom prst="roundRect"/>
          <a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  <a:ln w="25400" cap="flat" cmpd="sng">
            <a:solidFill>
              <a:srgbClr val="FFBE3C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  <a:defRPr sz="1400">
                <a:solidFill>
                  <a:srgbClr val="465564"/>
                </a:solidFill>
                <a:latin typeface="Segoe UI Semibold" charset="0"/>
              </a:defRPr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841375"/>
            <a:ext cx="365760" cy="365760"/>
          </a:xfrm>
          <a:prstGeom prst="roundRect">
            <a:avLst/>
          </a:prstGeom>
          <a:solidFill>
            <a:srgbClr val="FFB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0F1928"/>
                </a:solidFill>
                <a:latin typeface="Segoe UI Semibold"/>
              </a:defRPr>
            </a:pPr>
            <a:r>
              <a:t>Conclusion and Contributions</a:t>
            </a:r>
          </a:p>
          <a:p>
            <a:pPr>
              <a:spcBef>
                <a:spcPts val="500"/>
              </a:spcBef>
              <a:defRPr sz="1600">
                <a:solidFill>
                  <a:srgbClr val="46AAE6"/>
                </a:solidFill>
                <a:latin typeface="Segoe UI Semibold"/>
              </a:defRPr>
            </a:pPr>
            <a:r>
              <a:t>A Foundation for Future AI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 rot="0">
            <a:off x="1097280" y="2011680"/>
            <a:ext cx="5376545" cy="40722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endParaRPr lang="ko-KR" altLang="en-US" sz="1800">
              <a:solidFill>
                <a:schemeClr val="tx1"/>
              </a:solidFill>
              <a:latin typeface="Calibri" charset="0"/>
              <a:ea typeface="+mn-ea"/>
              <a:cs typeface="+mn-cs"/>
            </a:endParaRPr>
          </a:p>
          <a:p>
            <a:pPr marL="0" indent="0">
              <a:spcAft>
                <a:spcPts val="600"/>
              </a:spcAft>
              <a:buFontTx/>
              <a:buNone/>
              <a:defRPr sz="2000" b="1">
                <a:solidFill>
                  <a:srgbClr val="46AAE6"/>
                </a:solidFill>
                <a:latin typeface="Segoe UI" charset="0"/>
              </a:defRPr>
            </a:pPr>
            <a:r>
              <a:rPr/>
              <a:t>Technical Accomplishments</a:t>
            </a:r>
            <a:endParaRPr lang="ko-KR" altLang="en-US"/>
          </a:p>
          <a:p>
            <a:pPr marL="0" indent="0">
              <a:lnSpc>
                <a:spcPct val="130000"/>
              </a:lnSpc>
              <a:spcAft>
                <a:spcPts val="800"/>
              </a:spcAft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■  Engineered a scalable, memory-efficient NPC ecosystem in UE 5.4.4.</a:t>
            </a:r>
            <a:endParaRPr lang="ko-KR" altLang="en-US"/>
          </a:p>
          <a:p>
            <a:pPr marL="0" indent="0">
              <a:lnSpc>
                <a:spcPct val="130000"/>
              </a:lnSpc>
              <a:spcAft>
                <a:spcPts val="800"/>
              </a:spcAft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■  Demonstrated that data-driven architectures resolve the 3 identified failure modes.</a:t>
            </a:r>
            <a:endParaRPr lang="ko-KR" altLang="en-US"/>
          </a:p>
          <a:p>
            <a:pPr marL="0" indent="0">
              <a:spcAft>
                <a:spcPts val="1600"/>
              </a:spcAft>
              <a:buFontTx/>
              <a:buNone/>
              <a:defRPr sz="200"/>
            </a:pPr>
            <a:endParaRPr lang="ko-KR" altLang="en-US" sz="200"/>
          </a:p>
          <a:p>
            <a:pPr marL="0" indent="0">
              <a:spcAft>
                <a:spcPts val="600"/>
              </a:spcAft>
              <a:buFontTx/>
              <a:buNone/>
              <a:defRPr sz="2000" b="1">
                <a:solidFill>
                  <a:srgbClr val="46AAE6"/>
                </a:solidFill>
                <a:latin typeface="Segoe UI" charset="0"/>
              </a:defRPr>
            </a:pPr>
            <a:r>
              <a:rPr/>
              <a:t>Design Accomplishments</a:t>
            </a:r>
            <a:endParaRPr lang="ko-KR" altLang="en-US"/>
          </a:p>
          <a:p>
            <a:pPr marL="0" indent="0">
              <a:lnSpc>
                <a:spcPct val="130000"/>
              </a:lnSpc>
              <a:spcAft>
                <a:spcPts val="800"/>
              </a:spcAft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■  Proved that mechanically coupled systems (Time, Economy, Vectors) drive emotional immersion.</a:t>
            </a:r>
            <a:endParaRPr lang="ko-KR" altLang="en-US"/>
          </a:p>
          <a:p>
            <a:pPr marL="0" indent="0">
              <a:lnSpc>
                <a:spcPct val="130000"/>
              </a:lnSpc>
              <a:spcAft>
                <a:spcPts val="800"/>
              </a:spcAft>
              <a:buFontTx/>
              <a:buNone/>
              <a:defRPr sz="1500">
                <a:solidFill>
                  <a:srgbClr val="465564"/>
                </a:solidFill>
                <a:latin typeface="Segoe UI" charset="0"/>
              </a:defRPr>
            </a:pPr>
            <a:r>
              <a:rPr/>
              <a:t>■  Established the necessary structural bedrock for next-generation AI.</a:t>
            </a:r>
            <a:endParaRPr lang="ko-KR" altLang="en-US"/>
          </a:p>
        </p:txBody>
      </p:sp>
      <p:sp>
        <p:nvSpPr>
          <p:cNvPr id="5" name="Rounded Rectangle 4"/>
          <p:cNvSpPr>
            <a:spLocks/>
          </p:cNvSpPr>
          <p:nvPr/>
        </p:nvSpPr>
        <p:spPr>
          <a:xfrm rot="0">
            <a:off x="6583680" y="2011680"/>
            <a:ext cx="4572635" cy="3841115"/>
          </a:xfrm>
          <a:prstGeom prst="roundRect"/>
          <a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  <a:ln w="25400" cap="flat" cmpd="sng">
            <a:solidFill>
              <a:srgbClr val="FFBE3C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  <a:defRPr sz="1400">
                <a:solidFill>
                  <a:srgbClr val="465564"/>
                </a:solidFill>
                <a:latin typeface="Segoe UI Semibold" charset="0"/>
              </a:defRPr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8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Park Leon</cp:lastModifiedBy>
  <cp:version>10.105.305.56234</cp:version>
  <dcterms:modified xsi:type="dcterms:W3CDTF">2013-01-27T09:15:58Z</dcterms:modified>
</cp:coreProperties>
</file>